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65760"/>
            <a:ext cx="1463040" cy="14630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5212080"/>
            <a:ext cx="1097280" cy="1097280"/>
          </a:xfrm>
          <a:prstGeom prst="ellipse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" y="512064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C6FF"/>
                </a:solidFill>
                <a:latin typeface="Aptos"/>
              </a:rPr>
              <a:t>PREMIUM AI RESEARCH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8696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>
                <a:solidFill>
                  <a:srgbClr val="F7F9FF"/>
                </a:solidFill>
                <a:latin typeface="Aptos Display"/>
              </a:rPr>
              <a:t>AI Career &amp;</a:t>
            </a:r>
            <a:br/>
            <a:r>
              <a:t>Skill Gap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63240"/>
            <a:ext cx="8138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9DA8C7"/>
                </a:solidFill>
                <a:latin typeface="Aptos"/>
              </a:rPr>
              <a:t>AI-powered resume analysis, semantic career matching, skill-gap detection, recommendations and opportunity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2679191" cy="384048"/>
          </a:xfrm>
          <a:prstGeom prst="roundRect">
            <a:avLst/>
          </a:prstGeom>
          <a:solidFill>
            <a:srgbClr val="141E3C"/>
          </a:solidFill>
          <a:ln>
            <a:solidFill>
              <a:srgbClr val="32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06240"/>
            <a:ext cx="2459735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7F9FF"/>
                </a:solidFill>
                <a:latin typeface="Aptos"/>
              </a:rPr>
              <a:t>Resume PDF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4160520"/>
            <a:ext cx="3118103" cy="384048"/>
          </a:xfrm>
          <a:prstGeom prst="roundRect">
            <a:avLst/>
          </a:prstGeom>
          <a:solidFill>
            <a:srgbClr val="141E3C"/>
          </a:solidFill>
          <a:ln>
            <a:solidFill>
              <a:srgbClr val="32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4206240"/>
            <a:ext cx="28986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7F9FF"/>
                </a:solidFill>
                <a:latin typeface="Aptos"/>
              </a:rPr>
              <a:t>NLP / Semantic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1" y="4160520"/>
            <a:ext cx="2020824" cy="384048"/>
          </a:xfrm>
          <a:prstGeom prst="roundRect">
            <a:avLst/>
          </a:prstGeom>
          <a:solidFill>
            <a:srgbClr val="141E3C"/>
          </a:solidFill>
          <a:ln>
            <a:solidFill>
              <a:srgbClr val="32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999" y="4206240"/>
            <a:ext cx="18013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7F9FF"/>
                </a:solidFill>
                <a:latin typeface="Aptos"/>
              </a:rPr>
              <a:t>MySQL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4160520"/>
            <a:ext cx="2788920" cy="384048"/>
          </a:xfrm>
          <a:prstGeom prst="roundRect">
            <a:avLst/>
          </a:prstGeom>
          <a:solidFill>
            <a:srgbClr val="141E3C"/>
          </a:solidFill>
          <a:ln>
            <a:solidFill>
              <a:srgbClr val="32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1" y="4206240"/>
            <a:ext cx="2569463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7F9FF"/>
                </a:solidFill>
                <a:latin typeface="Aptos"/>
              </a:rPr>
              <a:t>Opportunity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77472" y="4160520"/>
            <a:ext cx="2788920" cy="384048"/>
          </a:xfrm>
          <a:prstGeom prst="roundRect">
            <a:avLst/>
          </a:prstGeom>
          <a:solidFill>
            <a:srgbClr val="141E3C"/>
          </a:solidFill>
          <a:ln>
            <a:solidFill>
              <a:srgbClr val="32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9" y="4206240"/>
            <a:ext cx="2569463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7F9FF"/>
                </a:solidFill>
                <a:latin typeface="Aptos"/>
              </a:rPr>
              <a:t>Nearby 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7F9FF"/>
                </a:solidFill>
                <a:latin typeface="Aptos"/>
              </a:rPr>
              <a:t>Presented by: Krishna Kumar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B.Tech (BDA) • Institute of Computer Technologies • Ganpat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C6FF"/>
                </a:solidFill>
                <a:latin typeface="Aptos"/>
              </a:rPr>
              <a:t>Academic Year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Students often know their skills, but not how ready they are for a target career.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42976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63040"/>
            <a:ext cx="54864" cy="429768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Current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FF647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965960"/>
            <a:ext cx="25786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7F9FF"/>
                </a:solidFill>
                <a:latin typeface="Aptos"/>
              </a:rPr>
              <a:t>No clear measurement of career readiness.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FF647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468880"/>
            <a:ext cx="25786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7F9FF"/>
                </a:solidFill>
                <a:latin typeface="Aptos"/>
              </a:rPr>
              <a:t>Resume skills are difficult to compare with job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FF647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971800"/>
            <a:ext cx="25786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7F9FF"/>
                </a:solidFill>
                <a:latin typeface="Aptos"/>
              </a:rPr>
              <a:t>Students do not know which skills are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FF647C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474720"/>
            <a:ext cx="25786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7F9FF"/>
                </a:solidFill>
                <a:latin typeface="Aptos"/>
              </a:rPr>
              <a:t>Finding relevant internships, remote jobs and hackathons is time-consuming.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7763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FF647C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977639"/>
            <a:ext cx="25786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7F9FF"/>
                </a:solidFill>
                <a:latin typeface="Aptos"/>
              </a:rPr>
              <a:t>Career planning is often based on guesswork.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463040"/>
            <a:ext cx="7223760" cy="42976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463040"/>
            <a:ext cx="54864" cy="429768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572768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Proposed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965960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7F9FF"/>
                </a:solidFill>
                <a:latin typeface="Aptos"/>
              </a:rPr>
              <a:t>One platform that converts a resume into actionable career intelligence.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880360"/>
            <a:ext cx="1207008" cy="914400"/>
          </a:xfrm>
          <a:prstGeom prst="roundRect">
            <a:avLst/>
          </a:prstGeom>
          <a:solidFill>
            <a:srgbClr val="182246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3063240"/>
            <a:ext cx="1060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F9FF"/>
                </a:solidFill>
                <a:latin typeface="Aptos"/>
              </a:rPr>
              <a:t>Upload 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182112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C6F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880360"/>
            <a:ext cx="1207008" cy="914400"/>
          </a:xfrm>
          <a:prstGeom prst="roundRect">
            <a:avLst/>
          </a:prstGeom>
          <a:solidFill>
            <a:srgbClr val="182246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62472" y="3063240"/>
            <a:ext cx="1060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F9FF"/>
                </a:solidFill>
                <a:latin typeface="Aptos"/>
              </a:rPr>
              <a:t>Extract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182112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C6FF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2880360"/>
            <a:ext cx="1207008" cy="914400"/>
          </a:xfrm>
          <a:prstGeom prst="roundRect">
            <a:avLst/>
          </a:prstGeom>
          <a:solidFill>
            <a:srgbClr val="182246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4072" y="3063240"/>
            <a:ext cx="1060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F9FF"/>
                </a:solidFill>
                <a:latin typeface="Aptos"/>
              </a:rPr>
              <a:t>AI Semantic 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182112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C6FF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2880360"/>
            <a:ext cx="1207008" cy="914400"/>
          </a:xfrm>
          <a:prstGeom prst="roundRect">
            <a:avLst/>
          </a:prstGeom>
          <a:solidFill>
            <a:srgbClr val="182246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3063240"/>
            <a:ext cx="1060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F9FF"/>
                </a:solidFill>
                <a:latin typeface="Aptos"/>
              </a:rPr>
              <a:t>Skill Gap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3182112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C6FF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2880360"/>
            <a:ext cx="1207008" cy="914400"/>
          </a:xfrm>
          <a:prstGeom prst="roundRect">
            <a:avLst/>
          </a:prstGeom>
          <a:solidFill>
            <a:srgbClr val="182246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3063240"/>
            <a:ext cx="1060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F9FF"/>
                </a:solidFill>
                <a:latin typeface="Aptos"/>
              </a:rPr>
              <a:t>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343400"/>
            <a:ext cx="6309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DA8C7"/>
                </a:solidFill>
                <a:latin typeface="Aptos"/>
              </a:rPr>
              <a:t>Result: A student gets a readiness score, detected skills, missing skills, career suggestions and relevant opportunities.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What the system is designed to achieve.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246120" cy="17830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178308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C6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F9FF"/>
                </a:solidFill>
                <a:latin typeface="Aptos"/>
              </a:rPr>
              <a:t>Analyze 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Read resume PDF and extract meaningful text and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46120" cy="17830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54864" cy="1783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81912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8424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F9FF"/>
                </a:solidFill>
                <a:latin typeface="Aptos"/>
              </a:rPr>
              <a:t>Measure Career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231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Compare the student profile with a selected target career.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246120" cy="17830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417320"/>
            <a:ext cx="54864" cy="178308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581912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647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8424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F9FF"/>
                </a:solidFill>
                <a:latin typeface="Aptos"/>
              </a:rPr>
              <a:t>Detect Skill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4231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Identify important missing skills and improvement priorities.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246120" cy="17830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54864" cy="1783080"/>
          </a:xfrm>
          <a:prstGeom prst="rect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22191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7E0A3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2452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F9FF"/>
                </a:solidFill>
                <a:latin typeface="Aptos"/>
              </a:rPr>
              <a:t>Recommend Opportunities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Suggest internships, remote jobs and hackathons based on detected skills.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657600"/>
            <a:ext cx="3246120" cy="17830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3657600"/>
            <a:ext cx="54864" cy="1783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822191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2452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F9FF"/>
                </a:solidFill>
                <a:latin typeface="Aptos"/>
              </a:rPr>
              <a:t>Store Analysis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66344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Save results in MySQL for tracking and research use.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3657600"/>
            <a:ext cx="3246120" cy="17830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26679" y="3657600"/>
            <a:ext cx="54864" cy="178308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822191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C6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22452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F9FF"/>
                </a:solidFill>
                <a:latin typeface="Aptos"/>
              </a:rPr>
              <a:t>Support Nearby Discovery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66344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Use preferred location to show relevant local opportunities.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Flask coordinates the complete pipeline from user input to dashboard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32720" cy="749808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54864" cy="7498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435607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C6FF"/>
                </a:solidFill>
                <a:latin typeface="Aptos"/>
              </a:rP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435607"/>
            <a:ext cx="7223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7F9FF"/>
                </a:solidFill>
                <a:latin typeface="Aptos"/>
              </a:rPr>
              <a:t>HTML + CSS + Responsive Premium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58568"/>
            <a:ext cx="10332720" cy="749808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58568"/>
            <a:ext cx="54864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68296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  <a:latin typeface="Aptos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68296"/>
            <a:ext cx="7223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7F9FF"/>
                </a:solidFill>
                <a:latin typeface="Aptos"/>
              </a:rPr>
              <a:t>Flask • Routing • Form Handling • Business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91256"/>
            <a:ext cx="10332720" cy="749808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191256"/>
            <a:ext cx="54864" cy="749808"/>
          </a:xfrm>
          <a:prstGeom prst="rect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300984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7E0A3"/>
                </a:solidFill>
                <a:latin typeface="Aptos"/>
              </a:rPr>
              <a:t>AI ANALYSIS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00984"/>
            <a:ext cx="7223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7F9FF"/>
                </a:solidFill>
                <a:latin typeface="Aptos"/>
              </a:rPr>
              <a:t>PDF Text Extraction • Skill Detection • Semantic Similarity •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23944"/>
            <a:ext cx="10332720" cy="749808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123944"/>
            <a:ext cx="54864" cy="74980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23367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857"/>
                </a:solidFill>
                <a:latin typeface="Aptos"/>
              </a:rPr>
              <a:t>OPPORTUNITY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233672"/>
            <a:ext cx="7223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7F9FF"/>
                </a:solidFill>
                <a:latin typeface="Aptos"/>
              </a:rPr>
              <a:t>Internship • Remote Job • Hackathon • Nearby Location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56631"/>
            <a:ext cx="10332720" cy="749808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056631"/>
            <a:ext cx="54864" cy="7498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5166359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C6FF"/>
                </a:solidFill>
                <a:latin typeface="Aptos"/>
              </a:rP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66359"/>
            <a:ext cx="7223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7F9FF"/>
                </a:solidFill>
                <a:latin typeface="Aptos"/>
              </a:rPr>
              <a:t>MySQL • analysis_history • Result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241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9DA8C7"/>
                </a:solidFill>
                <a:latin typeface="Aptos"/>
              </a:rPr>
              <a:t>Data flow: User → Flask → PDF/NLP/Skill Logic → Score + Recommendations → MySQL History →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4.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The complete working process of the AI Career Analyzer.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29000" cy="17373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" cy="173736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B1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9FF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76272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Resume PDF + Target Career + Preferred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429000" cy="17373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63040"/>
            <a:ext cx="54864" cy="1737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5623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B1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1907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9FF"/>
                </a:solidFill>
                <a:latin typeface="Aptos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76272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Read PDF text using Python PDF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429000" cy="17373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54864" cy="1737360"/>
          </a:xfrm>
          <a:prstGeom prst="rect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1783080"/>
            <a:ext cx="502920" cy="502920"/>
          </a:xfrm>
          <a:prstGeom prst="ellipse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85623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B18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71907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9FF"/>
                </a:solidFill>
                <a:latin typeface="Aptos"/>
              </a:rPr>
              <a:t>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76272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Identify known technical and professional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80"/>
            <a:ext cx="3429000" cy="17373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611880"/>
            <a:ext cx="54864" cy="173736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050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B18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867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9FF"/>
                </a:solidFill>
                <a:latin typeface="Aptos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325112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Keyword match + semantic AI similarity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611880"/>
            <a:ext cx="3429000" cy="17373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611880"/>
            <a:ext cx="54864" cy="17373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63440" y="3931920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0050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B18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867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9FF"/>
                </a:solidFill>
                <a:latin typeface="Aptos"/>
              </a:rPr>
              <a:t>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325112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Combine signals into a final readiness 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611880"/>
            <a:ext cx="3429000" cy="17373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611880"/>
            <a:ext cx="54864" cy="1737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58200" y="393192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0050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B18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9FF"/>
                </a:solidFill>
                <a:latin typeface="Aptos"/>
              </a:rPr>
              <a:t>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325112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Show gaps, roadmap, careers and opportunities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97880"/>
            <a:ext cx="10515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DA8C7"/>
                </a:solidFill>
                <a:latin typeface="Aptos"/>
              </a:rPr>
              <a:t>The output is designed to be understandable for students and useful for academic research and career planning.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5.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Each technology has a specific responsibility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4864" cy="1600200"/>
          </a:xfrm>
          <a:prstGeom prst="rect">
            <a:avLst/>
          </a:prstGeom>
          <a:solidFill>
            <a:srgbClr val="F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7850"/>
                </a:solidFill>
                <a:latin typeface="Aptos"/>
              </a:rP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7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Page structure and dashboard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37160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371600"/>
            <a:ext cx="54864" cy="1600200"/>
          </a:xfrm>
          <a:prstGeom prst="rect">
            <a:avLst/>
          </a:prstGeom>
          <a:solidFill>
            <a:srgbClr val="46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54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696FF"/>
                </a:solidFill>
                <a:latin typeface="Apto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029967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Premium UI, responsive layout, cards and visual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37160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9944" y="1371600"/>
            <a:ext cx="54864" cy="1600200"/>
          </a:xfrm>
          <a:prstGeom prst="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1554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D246"/>
                </a:solidFill>
                <a:latin typeface="Apto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2029967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Core processing and application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7736" y="137160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17736" y="1371600"/>
            <a:ext cx="54864" cy="1600200"/>
          </a:xfrm>
          <a:prstGeom prst="rect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616" y="1554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E0A3"/>
                </a:solidFill>
                <a:latin typeface="Aptos"/>
              </a:rPr>
              <a:t>Flask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2029967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Backend server, routes and form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8328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383280"/>
            <a:ext cx="54864" cy="1600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C6FF"/>
                </a:solidFill>
                <a:latin typeface="Aptos"/>
              </a:rPr>
              <a:t>PDF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41648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Extract text from uploaded resume PDFs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2152" y="338328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02152" y="3383280"/>
            <a:ext cx="54864" cy="1600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2" y="3566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  <a:latin typeface="Aptos"/>
              </a:rPr>
              <a:t>NLP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4041648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Semantic similarity between resume and career profile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9944" y="338328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9944" y="3383280"/>
            <a:ext cx="54864" cy="1600200"/>
          </a:xfrm>
          <a:prstGeom prst="rect">
            <a:avLst/>
          </a:prstGeom>
          <a:solidFill>
            <a:srgbClr val="3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3566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2AAFF"/>
                </a:solidFill>
                <a:latin typeface="Aptos"/>
              </a:rPr>
              <a:t>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4041648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Store analysis history and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17736" y="3383280"/>
            <a:ext cx="2651760" cy="160020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17736" y="3383280"/>
            <a:ext cx="54864" cy="16002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0616" y="3566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C857"/>
                </a:solidFill>
                <a:latin typeface="Aptos"/>
              </a:rPr>
              <a:t>Chart.js /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4041648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A8C7"/>
                </a:solidFill>
                <a:latin typeface="Aptos"/>
              </a:rPr>
              <a:t>Visualize scores and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6. AI Analysis &amp; Career Readiness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The project uses more than simple keyword counting.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44805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448056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49834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Two-Layer Matching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7F9FF"/>
                </a:solidFill>
                <a:latin typeface="Aptos"/>
              </a:rPr>
              <a:t>Layer A — Keyword / Skill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Compares detected resume skills with the required skill set of the selected career.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7F9FF"/>
                </a:solidFill>
                <a:latin typeface="Aptos"/>
              </a:rPr>
              <a:t>Layer B — Semantic AI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4480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Uses semantic similarity to understand how closely the resume content aligns with the target career beyond exact word matching.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C6FF"/>
                </a:solidFill>
                <a:latin typeface="Aptos"/>
              </a:rPr>
              <a:t>Final readiness combines multiple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49240" cy="448056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4864" cy="4480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27048"/>
            <a:ext cx="49834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Example Scoring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011680"/>
            <a:ext cx="4434840" cy="822960"/>
          </a:xfrm>
          <a:prstGeom prst="roundRect">
            <a:avLst/>
          </a:prstGeom>
          <a:solidFill>
            <a:srgbClr val="0D142D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194560"/>
            <a:ext cx="4160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7F9FF"/>
                </a:solidFill>
                <a:latin typeface="Aptos"/>
              </a:rPr>
              <a:t>Final Score = Weighted Skill Match + AI Semantic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4612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Dashboard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033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703320"/>
            <a:ext cx="4041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7F9FF"/>
                </a:solidFill>
                <a:latin typeface="Aptos"/>
              </a:rPr>
              <a:t>Overall career readiness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2062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206240"/>
            <a:ext cx="4041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7F9FF"/>
                </a:solidFill>
                <a:latin typeface="Aptos"/>
              </a:rPr>
              <a:t>Keyword / skill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70915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709159"/>
            <a:ext cx="4041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7F9FF"/>
                </a:solidFill>
                <a:latin typeface="Aptos"/>
              </a:rPr>
              <a:t>AI semantic similarity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21207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5212079"/>
            <a:ext cx="4041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7F9FF"/>
                </a:solidFill>
                <a:latin typeface="Aptos"/>
              </a:rPr>
              <a:t>Matched and missing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71499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5714999"/>
            <a:ext cx="4041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7F9FF"/>
                </a:solidFill>
                <a:latin typeface="Aptos"/>
              </a:rPr>
              <a:t>Improvement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7. Premium AI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The UI converts technical analysis into an easy-to-understand student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0972800" cy="466344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4864" cy="4663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Dashboard Output Preview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874519"/>
            <a:ext cx="1828800" cy="1828800"/>
          </a:xfrm>
          <a:prstGeom prst="ellipse">
            <a:avLst/>
          </a:prstGeom>
          <a:solidFill>
            <a:srgbClr val="101630"/>
          </a:solidFill>
          <a:ln w="635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7F9FF"/>
                </a:solidFill>
                <a:latin typeface="Aptos"/>
              </a:rPr>
              <a:t>91.55%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97480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DA8C7"/>
                </a:solidFill>
                <a:latin typeface="Aptos"/>
              </a:rPr>
              <a:t>Career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28800"/>
            <a:ext cx="2240280" cy="685800"/>
          </a:xfrm>
          <a:prstGeom prst="roundRect">
            <a:avLst/>
          </a:prstGeom>
          <a:solidFill>
            <a:srgbClr val="161F3E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938528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DA8C7"/>
                </a:solidFill>
                <a:latin typeface="Aptos"/>
              </a:rPr>
              <a:t>Keyword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594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00C6FF"/>
                </a:solidFill>
                <a:latin typeface="Aptos"/>
              </a:rPr>
              <a:t>88%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670048"/>
            <a:ext cx="2240280" cy="685800"/>
          </a:xfrm>
          <a:prstGeom prst="roundRect">
            <a:avLst/>
          </a:prstGeom>
          <a:solidFill>
            <a:srgbClr val="161F3E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779776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DA8C7"/>
                </a:solidFill>
                <a:latin typeface="Aptos"/>
              </a:rPr>
              <a:t>AI Semantic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61488"/>
            <a:ext cx="594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00C6FF"/>
                </a:solidFill>
                <a:latin typeface="Aptos"/>
              </a:rPr>
              <a:t>91.55%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511296"/>
            <a:ext cx="2240280" cy="685800"/>
          </a:xfrm>
          <a:prstGeom prst="roundRect">
            <a:avLst/>
          </a:prstGeom>
          <a:solidFill>
            <a:srgbClr val="161F3E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362102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DA8C7"/>
                </a:solidFill>
                <a:latin typeface="Aptos"/>
              </a:rPr>
              <a:t>Final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602736"/>
            <a:ext cx="594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00C6FF"/>
                </a:solidFill>
                <a:latin typeface="Aptos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783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Detected 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194560"/>
            <a:ext cx="612647" cy="347472"/>
          </a:xfrm>
          <a:prstGeom prst="roundRect">
            <a:avLst/>
          </a:prstGeom>
          <a:solidFill>
            <a:srgbClr val="0F2F46"/>
          </a:solidFill>
          <a:ln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2267712"/>
            <a:ext cx="466343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7F9FF"/>
                </a:solidFill>
                <a:latin typeface="Aptos"/>
              </a:rPr>
              <a:t>Java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2194560"/>
            <a:ext cx="685800" cy="347472"/>
          </a:xfrm>
          <a:prstGeom prst="roundRect">
            <a:avLst/>
          </a:prstGeom>
          <a:solidFill>
            <a:srgbClr val="0F2F46"/>
          </a:solidFill>
          <a:ln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267712"/>
            <a:ext cx="539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7F9FF"/>
                </a:solidFill>
                <a:latin typeface="Aptos"/>
              </a:rPr>
              <a:t>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9208" y="2194560"/>
            <a:ext cx="1271016" cy="347472"/>
          </a:xfrm>
          <a:prstGeom prst="roundRect">
            <a:avLst/>
          </a:prstGeom>
          <a:solidFill>
            <a:srgbClr val="0F2F46"/>
          </a:solidFill>
          <a:ln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267712"/>
            <a:ext cx="11247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7F9FF"/>
                </a:solidFill>
                <a:latin typeface="Aptos"/>
              </a:rPr>
              <a:t>Data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41664" y="2194560"/>
            <a:ext cx="685800" cy="347472"/>
          </a:xfrm>
          <a:prstGeom prst="roundRect">
            <a:avLst/>
          </a:prstGeom>
          <a:solidFill>
            <a:srgbClr val="0F2F46"/>
          </a:solidFill>
          <a:ln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14816" y="2267712"/>
            <a:ext cx="539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7F9FF"/>
                </a:solidFill>
                <a:latin typeface="Aptos"/>
              </a:rPr>
              <a:t>Flask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8904" y="2194560"/>
            <a:ext cx="1417319" cy="347472"/>
          </a:xfrm>
          <a:prstGeom prst="roundRect">
            <a:avLst/>
          </a:prstGeom>
          <a:solidFill>
            <a:srgbClr val="0F2F46"/>
          </a:solidFill>
          <a:ln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6" y="2267712"/>
            <a:ext cx="12710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7F9FF"/>
                </a:solidFill>
                <a:latin typeface="Aptos"/>
              </a:rPr>
              <a:t>Problem Solving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33756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Improvement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79476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749039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Strengthen missing core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25196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0624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Build project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70916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6344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DA8C7"/>
                </a:solidFill>
                <a:latin typeface="Aptos"/>
              </a:rPr>
              <a:t>Apply to matched opportunities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8. Opportunity Matching + Nearby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A career analyzer should not stop at scores — it should guide the student toward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69164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4864" cy="169164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💼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A8C7"/>
                </a:solidFill>
                <a:latin typeface="Aptos"/>
              </a:rPr>
              <a:t>Matches detected skills with internship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66360" cy="169164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" cy="16916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🌐 Remote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21408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A8C7"/>
                </a:solidFill>
                <a:latin typeface="Aptos"/>
              </a:rPr>
              <a:t>Highlights suitable remote roles based on skill overlap.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166360" cy="169164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54864" cy="16916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0168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🏆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78808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A8C7"/>
                </a:solidFill>
                <a:latin typeface="Aptos"/>
              </a:rPr>
              <a:t>Suggests hackathon opportunities related to the student's skills.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520440"/>
            <a:ext cx="5166360" cy="169164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20440"/>
            <a:ext cx="54864" cy="1691640"/>
          </a:xfrm>
          <a:prstGeom prst="rect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30168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📍 Nearby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78808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A8C7"/>
                </a:solidFill>
                <a:latin typeface="Aptos"/>
              </a:rPr>
              <a:t>Uses preferred location to support local opportunity discovery.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7F9FF"/>
                </a:solidFill>
                <a:latin typeface="Aptos"/>
              </a:rPr>
              <a:t>Matching logic: Detected Skills ∩ Opportunity Required Skills → Match Percentage → Recommended to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9. Database &amp; Analysis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MySQL makes the project persistent and allows result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972800" cy="443484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443484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analysis_history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8541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057400"/>
            <a:ext cx="201168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2184" y="2185416"/>
            <a:ext cx="19019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resume_name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057400"/>
            <a:ext cx="182880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185416"/>
            <a:ext cx="17190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target_career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2057400"/>
            <a:ext cx="141732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185416"/>
            <a:ext cx="13075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keyword_score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057400"/>
            <a:ext cx="169164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3" y="2185416"/>
            <a:ext cx="1581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ai_semantic_score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057400"/>
            <a:ext cx="123444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2185416"/>
            <a:ext cx="11247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final_score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057400"/>
            <a:ext cx="1600200" cy="502920"/>
          </a:xfrm>
          <a:prstGeom prst="rect">
            <a:avLst/>
          </a:prstGeom>
          <a:solidFill>
            <a:srgbClr val="192246"/>
          </a:solidFill>
          <a:ln>
            <a:solidFill>
              <a:srgbClr val="2D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185416"/>
            <a:ext cx="1490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C6FF"/>
                </a:solidFill>
                <a:latin typeface="Aptos"/>
              </a:rPr>
              <a:t>analyzed_at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578608"/>
            <a:ext cx="50292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273405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2578608"/>
            <a:ext cx="201168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72184" y="2734056"/>
            <a:ext cx="19019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student_resume.pdf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2578608"/>
            <a:ext cx="182880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3864" y="2734056"/>
            <a:ext cx="17190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Data Analyst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578608"/>
            <a:ext cx="141732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2664" y="2734056"/>
            <a:ext cx="13075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88.00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578608"/>
            <a:ext cx="169164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983" y="2734056"/>
            <a:ext cx="1581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91.55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578608"/>
            <a:ext cx="123444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2734056"/>
            <a:ext cx="11247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90.10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2578608"/>
            <a:ext cx="1600200" cy="566928"/>
          </a:xfrm>
          <a:prstGeom prst="rect">
            <a:avLst/>
          </a:prstGeom>
          <a:solidFill>
            <a:srgbClr val="0D132A"/>
          </a:solidFill>
          <a:ln>
            <a:solidFill>
              <a:srgbClr val="2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2734056"/>
            <a:ext cx="1490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F7F9FF"/>
                </a:solidFill>
                <a:latin typeface="Aptos"/>
              </a:rPr>
              <a:t>2026-09-10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657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3657600"/>
            <a:ext cx="9710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Stores each analysis result for history and future tracking.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1605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160520"/>
            <a:ext cx="9710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Supports dashboard analytics and research observations.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6634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663440"/>
            <a:ext cx="9710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Makes the application more than a temporary one-time calculator.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16635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5166359"/>
            <a:ext cx="9710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Can be extended later for user accounts and longitudinal progress tracking.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10.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A practical AI-based decision-support approach for student career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45262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452628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Input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828800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Resume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331720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Target career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3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83463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Preferred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3755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3755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Career skill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4047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047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Opportunity skill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371600"/>
            <a:ext cx="3429000" cy="45262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371600"/>
            <a:ext cx="54864" cy="4526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48132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828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1828800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PDF text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2331720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Skill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83463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283463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Keyword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33755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33755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Semantic AI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84047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384047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Weighted 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1371600"/>
            <a:ext cx="3429000" cy="452628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1371600"/>
            <a:ext cx="54864" cy="4526280"/>
          </a:xfrm>
          <a:prstGeom prst="rect">
            <a:avLst/>
          </a:prstGeom>
          <a:solidFill>
            <a:srgbClr val="27E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48132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828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E0A3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1828800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Readiness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E0A3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2331720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Skill gaps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83463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E0A3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2792" y="283463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Career 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33755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E0A3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333755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Opportunity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84047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E0A3"/>
                </a:solidFill>
                <a:latin typeface="Apto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3840479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7F9FF"/>
                </a:solidFill>
                <a:latin typeface="Aptos"/>
              </a:rPr>
              <a:t>Nearby opportunity section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7F9FF"/>
                </a:solidFill>
                <a:latin typeface="Aptos Display"/>
              </a:rPr>
              <a:t>11.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9DA8C7"/>
                </a:solidFill>
                <a:latin typeface="Aptos"/>
              </a:rPr>
              <a:t>From a student dashboard to a scalable AI career intelligence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38912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43891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828800"/>
            <a:ext cx="41330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7F9FF"/>
                </a:solidFill>
                <a:latin typeface="Aptos"/>
              </a:rPr>
              <a:t>Live job and internship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331720"/>
            <a:ext cx="41330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7F9FF"/>
                </a:solidFill>
                <a:latin typeface="Aptos"/>
              </a:rPr>
              <a:t>Real-time hackathon 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3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834639"/>
            <a:ext cx="41330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7F9FF"/>
                </a:solidFill>
                <a:latin typeface="Aptos"/>
              </a:rPr>
              <a:t>More advanced NLP / LLM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5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337559"/>
            <a:ext cx="41330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7F9FF"/>
                </a:solidFill>
                <a:latin typeface="Aptos"/>
              </a:rPr>
              <a:t>User login and personal progress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7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840479"/>
            <a:ext cx="41330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7F9FF"/>
                </a:solidFill>
                <a:latin typeface="Aptos"/>
              </a:rPr>
              <a:t>Automatic course and certification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399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6C63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343399"/>
            <a:ext cx="41330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7F9FF"/>
                </a:solidFill>
                <a:latin typeface="Aptos"/>
              </a:rPr>
              <a:t>Recruiter / college placement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257800" cy="4389120"/>
          </a:xfrm>
          <a:prstGeom prst="roundRect">
            <a:avLst/>
          </a:prstGeom>
          <a:solidFill>
            <a:srgbClr val="121932"/>
          </a:solidFill>
          <a:ln>
            <a:solidFill>
              <a:srgbClr val="25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4864" cy="43891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481328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7F9FF"/>
                </a:solidFill>
                <a:latin typeface="Aptos"/>
              </a:rP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74519"/>
            <a:ext cx="4572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7F9FF"/>
                </a:solidFill>
                <a:latin typeface="Aptos"/>
              </a:rPr>
              <a:t>The AI Career &amp; Skill Gap Analyzer transforms a student's resume into measurable career readiness and actionable next steps.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337560"/>
            <a:ext cx="4526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9DA8C7"/>
                </a:solidFill>
                <a:latin typeface="Aptos"/>
              </a:rPr>
              <a:t>The project combines frontend design, backend development, AI/NLP concepts, database storage and opportunity recommendation in one integrated 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709160"/>
            <a:ext cx="4526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C6FF"/>
                </a:solidFill>
                <a:latin typeface="Aptos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46520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9DA8C7"/>
                </a:solidFill>
                <a:latin typeface="Aptos"/>
              </a:rPr>
              <a:t>AI Career &amp; Skill Gap Analyzer • Research Conclave / Academic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DA8C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